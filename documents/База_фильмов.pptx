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350F9B2A-56D9-1B7D-F2D3-1F8380399E49}">
          <p14:sldIdLst>
            <p14:sldId id="256"/>
            <p14:sldId id="257"/>
          </p14:sldIdLst>
        </p14:section>
        <p14:section name="Проект" id="{CAD3723B-6EC1-6956-8890-67B7E6055E70}">
          <p14:sldIdLst>
            <p14:sldId id="258"/>
            <p14:sldId id="259"/>
            <p14:sldId id="260"/>
          </p14:sldIdLst>
        </p14:section>
        <p14:section name="Формы приложения" id="{4B3891DE-8A14-8640-44AB-50CD71963381}">
          <p14:sldIdLst>
            <p14:sldId id="261"/>
            <p14:sldId id="262"/>
            <p14:sldId id="263"/>
            <p14:sldId id="264"/>
          </p14:sldIdLst>
        </p14:section>
        <p14:section name="Итоги" id="{BB3A42DA-D2FF-20D0-40FC-0B25B08B827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91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62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651760"/>
            <a:ext cx="64008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чебное заведение"/>
          <p:cNvSpPr txBox="1"/>
          <p:nvPr/>
        </p:nvSpPr>
        <p:spPr>
          <a:xfrm>
            <a:off x="548640" y="411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МИНИСТЕРСТВО ОБРАЗОВАНИЯ И МОЛОДЕЖНОЙ ПОЛИТИКИ СВЕРДЛОВСКОЙ ОБЛАСТИ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ГАПОУ СО «ЕКАТЕРИНБУРГСКИЙ КОЛЛЕДЖ ТРАНСПОРТНОГО СТРОИТЕЛЬСТВА»</a:t>
            </a:r>
            <a:endParaRPr lang="en-US" sz="1200" dirty="0"/>
          </a:p>
        </p:txBody>
      </p:sp>
      <p:pic>
        <p:nvPicPr>
          <p:cNvPr id="3" name="Логотип приложения" descr="Иконка приложени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1097280" cy="109728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65176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мобильного приложения «База фильмов»</a:t>
            </a:r>
            <a:endParaRPr lang="en-US" sz="4000" dirty="0"/>
          </a:p>
        </p:txBody>
      </p:sp>
      <p:sp>
        <p:nvSpPr>
          <p:cNvPr id="5" name="Автор"/>
          <p:cNvSpPr txBox="1"/>
          <p:nvPr/>
        </p:nvSpPr>
        <p:spPr>
          <a:xfrm>
            <a:off x="548640" y="50292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Работу выполнила: Мелехова </a:t>
            </a:r>
            <a:r>
              <a:rPr lang="ru-RU" sz="2000" dirty="0">
                <a:solidFill>
                  <a:schemeClr val="bg1"/>
                </a:solidFill>
              </a:rPr>
              <a:t>М.А.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Руководитель: </a:t>
            </a:r>
            <a:r>
              <a:rPr lang="ru-RU" sz="2000" dirty="0">
                <a:solidFill>
                  <a:schemeClr val="bg1"/>
                </a:solidFill>
              </a:rPr>
              <a:t>Мирошниченко Г.В.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Группа: </a:t>
            </a:r>
            <a:r>
              <a:rPr lang="ru-RU" sz="2000" dirty="0">
                <a:solidFill>
                  <a:schemeClr val="bg1"/>
                </a:solidFill>
              </a:rPr>
              <a:t>Пр-31</a:t>
            </a:r>
            <a:endParaRPr lang="en-US" sz="2000" dirty="0"/>
          </a:p>
        </p:txBody>
      </p:sp>
      <p:pic>
        <p:nvPicPr>
          <p:cNvPr id="6" name="Скриншот login" descr="Скриншот приложения: log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822960"/>
            <a:ext cx="2399751" cy="4937760"/>
          </a:xfrm>
          <a:prstGeom prst="rect">
            <a:avLst/>
          </a:prstGeom>
        </p:spPr>
      </p:pic>
      <p:pic>
        <p:nvPicPr>
          <p:cNvPr id="7" name="Скриншот list" descr="Скриншот приложения: li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554480"/>
            <a:ext cx="239975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разработке</a:t>
            </a:r>
            <a:endParaRPr lang="en-US" sz="4000" dirty="0"/>
          </a:p>
        </p:txBody>
      </p:sp>
      <p:sp>
        <p:nvSpPr>
          <p:cNvPr id="3" name="Описание (карточка)"/>
          <p:cNvSpPr/>
          <p:nvPr/>
        </p:nvSpPr>
        <p:spPr>
          <a:xfrm>
            <a:off x="548640" y="1371600"/>
            <a:ext cx="6949440" cy="2377440"/>
          </a:xfrm>
          <a:prstGeom prst="roundRect">
            <a:avLst>
              <a:gd name="adj" fmla="val 6923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Описание"/>
          <p:cNvSpPr txBox="1"/>
          <p:nvPr/>
        </p:nvSpPr>
        <p:spPr>
          <a:xfrm>
            <a:off x="822960" y="137160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Приложение «База фильмов»: информация запрашивается через API и сохраняется в формате JSON, а список фильмов хранится в базе ROOM.</a:t>
            </a:r>
            <a:endParaRPr lang="en-US" sz="2400" dirty="0"/>
          </a:p>
        </p:txBody>
      </p:sp>
      <p:sp>
        <p:nvSpPr>
          <p:cNvPr id="5" name="Иконка API (круг)"/>
          <p:cNvSpPr/>
          <p:nvPr/>
        </p:nvSpPr>
        <p:spPr>
          <a:xfrm>
            <a:off x="1051560" y="4114800"/>
            <a:ext cx="1280160" cy="128016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6" name="Иконка API" descr="Иконка AP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798" y="4422038"/>
            <a:ext cx="665683" cy="665683"/>
          </a:xfrm>
          <a:prstGeom prst="rect">
            <a:avLst/>
          </a:prstGeom>
        </p:spPr>
      </p:pic>
      <p:sp>
        <p:nvSpPr>
          <p:cNvPr id="7" name="Подпись API"/>
          <p:cNvSpPr txBox="1"/>
          <p:nvPr/>
        </p:nvSpPr>
        <p:spPr>
          <a:xfrm>
            <a:off x="54864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API</a:t>
            </a:r>
            <a:endParaRPr lang="en-US" sz="2400" dirty="0"/>
          </a:p>
        </p:txBody>
      </p:sp>
      <p:sp>
        <p:nvSpPr>
          <p:cNvPr id="8" name="Иконка JSON (круг)"/>
          <p:cNvSpPr/>
          <p:nvPr/>
        </p:nvSpPr>
        <p:spPr>
          <a:xfrm>
            <a:off x="3520440" y="4114800"/>
            <a:ext cx="1280160" cy="128016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Иконка JSON" descr="Иконка JS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678" y="4422038"/>
            <a:ext cx="665683" cy="665683"/>
          </a:xfrm>
          <a:prstGeom prst="rect">
            <a:avLst/>
          </a:prstGeom>
        </p:spPr>
      </p:pic>
      <p:sp>
        <p:nvSpPr>
          <p:cNvPr id="10" name="Подпись JSON"/>
          <p:cNvSpPr txBox="1"/>
          <p:nvPr/>
        </p:nvSpPr>
        <p:spPr>
          <a:xfrm>
            <a:off x="301752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JSON</a:t>
            </a:r>
            <a:endParaRPr lang="en-US" sz="2400" dirty="0"/>
          </a:p>
        </p:txBody>
      </p:sp>
      <p:sp>
        <p:nvSpPr>
          <p:cNvPr id="11" name="Иконка ROOM (круг)"/>
          <p:cNvSpPr/>
          <p:nvPr/>
        </p:nvSpPr>
        <p:spPr>
          <a:xfrm>
            <a:off x="5989320" y="4114800"/>
            <a:ext cx="1280160" cy="128016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Иконка ROOM" descr="Иконка ROO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558" y="4422038"/>
            <a:ext cx="665683" cy="665683"/>
          </a:xfrm>
          <a:prstGeom prst="rect">
            <a:avLst/>
          </a:prstGeom>
        </p:spPr>
      </p:pic>
      <p:sp>
        <p:nvSpPr>
          <p:cNvPr id="13" name="Подпись ROOM"/>
          <p:cNvSpPr txBox="1"/>
          <p:nvPr/>
        </p:nvSpPr>
        <p:spPr>
          <a:xfrm>
            <a:off x="548640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ROOM</a:t>
            </a:r>
            <a:endParaRPr lang="en-US" sz="2400" dirty="0"/>
          </a:p>
        </p:txBody>
      </p:sp>
      <p:pic>
        <p:nvPicPr>
          <p:cNvPr id="14" name="Скриншот search" descr="Скриншот приложения: searc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640080"/>
            <a:ext cx="271083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 и задачи проекта</a:t>
            </a:r>
            <a:endParaRPr lang="en-US" sz="4000" dirty="0"/>
          </a:p>
        </p:txBody>
      </p:sp>
      <p:sp>
        <p:nvSpPr>
          <p:cNvPr id="3" name="Цель (карточка)"/>
          <p:cNvSpPr/>
          <p:nvPr/>
        </p:nvSpPr>
        <p:spPr>
          <a:xfrm>
            <a:off x="548640" y="1325880"/>
            <a:ext cx="11064240" cy="1371600"/>
          </a:xfrm>
          <a:prstGeom prst="roundRect">
            <a:avLst>
              <a:gd name="adj" fmla="val 12000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Цель"/>
          <p:cNvSpPr txBox="1"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ЦЕЛЬ: </a:t>
            </a:r>
            <a:r>
              <a:rPr lang="en-US" sz="2400" dirty="0">
                <a:solidFill>
                  <a:schemeClr val="bg1"/>
                </a:solidFill>
              </a:rPr>
              <a:t>научиться работать с API, повторить работу с форматом JSON и базой ROOM на языке Kotlin.</a:t>
            </a:r>
            <a:endParaRPr lang="en-US" sz="2400" dirty="0"/>
          </a:p>
        </p:txBody>
      </p:sp>
      <p:sp>
        <p:nvSpPr>
          <p:cNvPr id="5" name="Заголовок задач"/>
          <p:cNvSpPr txBox="1"/>
          <p:nvPr/>
        </p:nvSpPr>
        <p:spPr>
          <a:xfrm>
            <a:off x="54864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ЗАДАЧИ</a:t>
            </a:r>
            <a:endParaRPr lang="en-US" sz="2400" dirty="0"/>
          </a:p>
        </p:txBody>
      </p:sp>
      <p:sp>
        <p:nvSpPr>
          <p:cNvPr id="6" name="Задача 1 (карточка)"/>
          <p:cNvSpPr/>
          <p:nvPr/>
        </p:nvSpPr>
        <p:spPr>
          <a:xfrm>
            <a:off x="548640" y="3520440"/>
            <a:ext cx="5440680" cy="1325880"/>
          </a:xfrm>
          <a:prstGeom prst="roundRect">
            <a:avLst>
              <a:gd name="adj" fmla="val 1241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Иконка задачи 1 (круг)"/>
          <p:cNvSpPr/>
          <p:nvPr/>
        </p:nvSpPr>
        <p:spPr>
          <a:xfrm>
            <a:off x="777240" y="3703320"/>
            <a:ext cx="960120" cy="9601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Иконка задачи 1" descr="Иконка задачи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3933749"/>
            <a:ext cx="499262" cy="499262"/>
          </a:xfrm>
          <a:prstGeom prst="rect">
            <a:avLst/>
          </a:prstGeom>
        </p:spPr>
      </p:pic>
      <p:sp>
        <p:nvSpPr>
          <p:cNvPr id="9" name="Задача 1"/>
          <p:cNvSpPr txBox="1"/>
          <p:nvPr/>
        </p:nvSpPr>
        <p:spPr>
          <a:xfrm>
            <a:off x="1920240" y="352044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Получать данные через API</a:t>
            </a:r>
            <a:endParaRPr lang="en-US" sz="2000" dirty="0"/>
          </a:p>
        </p:txBody>
      </p:sp>
      <p:sp>
        <p:nvSpPr>
          <p:cNvPr id="10" name="Задача 2 (карточка)"/>
          <p:cNvSpPr/>
          <p:nvPr/>
        </p:nvSpPr>
        <p:spPr>
          <a:xfrm>
            <a:off x="6172200" y="3520440"/>
            <a:ext cx="5440680" cy="1325880"/>
          </a:xfrm>
          <a:prstGeom prst="roundRect">
            <a:avLst>
              <a:gd name="adj" fmla="val 1241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Иконка задачи 2 (круг)"/>
          <p:cNvSpPr/>
          <p:nvPr/>
        </p:nvSpPr>
        <p:spPr>
          <a:xfrm>
            <a:off x="6400800" y="3703320"/>
            <a:ext cx="960120" cy="9601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Иконка задачи 2" descr="Иконка задачи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229" y="3933749"/>
            <a:ext cx="499262" cy="499262"/>
          </a:xfrm>
          <a:prstGeom prst="rect">
            <a:avLst/>
          </a:prstGeom>
        </p:spPr>
      </p:pic>
      <p:sp>
        <p:nvSpPr>
          <p:cNvPr id="13" name="Задача 2"/>
          <p:cNvSpPr txBox="1"/>
          <p:nvPr/>
        </p:nvSpPr>
        <p:spPr>
          <a:xfrm>
            <a:off x="7543800" y="352044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Авторизация и SharedPreferences</a:t>
            </a:r>
            <a:endParaRPr lang="en-US" sz="2000" dirty="0"/>
          </a:p>
        </p:txBody>
      </p:sp>
      <p:sp>
        <p:nvSpPr>
          <p:cNvPr id="14" name="Задача 3 (карточка)"/>
          <p:cNvSpPr/>
          <p:nvPr/>
        </p:nvSpPr>
        <p:spPr>
          <a:xfrm>
            <a:off x="548640" y="5029200"/>
            <a:ext cx="5440680" cy="1325880"/>
          </a:xfrm>
          <a:prstGeom prst="roundRect">
            <a:avLst>
              <a:gd name="adj" fmla="val 1241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Иконка задачи 3 (круг)"/>
          <p:cNvSpPr/>
          <p:nvPr/>
        </p:nvSpPr>
        <p:spPr>
          <a:xfrm>
            <a:off x="777240" y="5212080"/>
            <a:ext cx="960120" cy="9601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6" name="Иконка задачи 3" descr="Иконка задачи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9" y="5442509"/>
            <a:ext cx="499262" cy="499262"/>
          </a:xfrm>
          <a:prstGeom prst="rect">
            <a:avLst/>
          </a:prstGeom>
        </p:spPr>
      </p:pic>
      <p:sp>
        <p:nvSpPr>
          <p:cNvPr id="17" name="Задача 3"/>
          <p:cNvSpPr txBox="1"/>
          <p:nvPr/>
        </p:nvSpPr>
        <p:spPr>
          <a:xfrm>
            <a:off x="1920240" y="502920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ROOM: добавление, удаление, редактирование</a:t>
            </a:r>
            <a:endParaRPr lang="en-US" sz="2000" dirty="0"/>
          </a:p>
        </p:txBody>
      </p:sp>
      <p:sp>
        <p:nvSpPr>
          <p:cNvPr id="18" name="Задача 4 (карточка)"/>
          <p:cNvSpPr/>
          <p:nvPr/>
        </p:nvSpPr>
        <p:spPr>
          <a:xfrm>
            <a:off x="6172200" y="5029200"/>
            <a:ext cx="5440680" cy="1325880"/>
          </a:xfrm>
          <a:prstGeom prst="roundRect">
            <a:avLst>
              <a:gd name="adj" fmla="val 12414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Иконка задачи 4 (круг)"/>
          <p:cNvSpPr/>
          <p:nvPr/>
        </p:nvSpPr>
        <p:spPr>
          <a:xfrm>
            <a:off x="6400800" y="5212080"/>
            <a:ext cx="960120" cy="9601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0" name="Иконка задачи 4" descr="Иконка задачи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229" y="5442509"/>
            <a:ext cx="499262" cy="499262"/>
          </a:xfrm>
          <a:prstGeom prst="rect">
            <a:avLst/>
          </a:prstGeom>
        </p:spPr>
      </p:pic>
      <p:sp>
        <p:nvSpPr>
          <p:cNvPr id="21" name="Задача 4"/>
          <p:cNvSpPr txBox="1"/>
          <p:nvPr/>
        </p:nvSpPr>
        <p:spPr>
          <a:xfrm>
            <a:off x="7543800" y="502920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Название, тема, иконка и портретная ориентация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характеристики</a:t>
            </a:r>
            <a:endParaRPr lang="en-US" sz="4000" dirty="0"/>
          </a:p>
        </p:txBody>
      </p:sp>
      <p:sp>
        <p:nvSpPr>
          <p:cNvPr id="3" name="Иконка АВТОРИЗАЦИЯ (круг)"/>
          <p:cNvSpPr/>
          <p:nvPr/>
        </p:nvSpPr>
        <p:spPr>
          <a:xfrm>
            <a:off x="548640" y="2057400"/>
            <a:ext cx="1097280" cy="10972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" name="Иконка АВТОРИЗАЦИЯ" descr="Иконка АВТОРИЗАЦИ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2320747"/>
            <a:ext cx="570586" cy="570586"/>
          </a:xfrm>
          <a:prstGeom prst="rect">
            <a:avLst/>
          </a:prstGeom>
        </p:spPr>
      </p:pic>
      <p:sp>
        <p:nvSpPr>
          <p:cNvPr id="5" name="АВТОРИЗАЦИЯ"/>
          <p:cNvSpPr txBox="1"/>
          <p:nvPr/>
        </p:nvSpPr>
        <p:spPr>
          <a:xfrm>
            <a:off x="1920240" y="19202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АВТОРИЗАЦИЯ</a:t>
            </a:r>
            <a:endParaRPr lang="en-US" sz="2200" dirty="0"/>
          </a:p>
        </p:txBody>
      </p:sp>
      <p:sp>
        <p:nvSpPr>
          <p:cNvPr id="6" name="Текст АВТОРИЗАЦИЯ"/>
          <p:cNvSpPr txBox="1"/>
          <p:nvPr/>
        </p:nvSpPr>
        <p:spPr>
          <a:xfrm>
            <a:off x="1920240" y="23774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Проверка ввода на пустоту, сохранение пользователя в SharedPreferences</a:t>
            </a:r>
            <a:endParaRPr lang="en-US" sz="2000" dirty="0"/>
          </a:p>
        </p:txBody>
      </p:sp>
      <p:sp>
        <p:nvSpPr>
          <p:cNvPr id="7" name="Иконка ПОЛУЧЕНИЕ ДАННЫХ (круг)"/>
          <p:cNvSpPr/>
          <p:nvPr/>
        </p:nvSpPr>
        <p:spPr>
          <a:xfrm>
            <a:off x="548640" y="3611880"/>
            <a:ext cx="1097280" cy="10972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Иконка ПОЛУЧЕНИЕ ДАННЫХ" descr="Иконка ПОЛУЧЕНИЕ ДАННЫХ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" y="3875227"/>
            <a:ext cx="570586" cy="570586"/>
          </a:xfrm>
          <a:prstGeom prst="rect">
            <a:avLst/>
          </a:prstGeom>
        </p:spPr>
      </p:pic>
      <p:sp>
        <p:nvSpPr>
          <p:cNvPr id="9" name="ПОЛУЧЕНИЕ ДАННЫХ"/>
          <p:cNvSpPr txBox="1"/>
          <p:nvPr/>
        </p:nvSpPr>
        <p:spPr>
          <a:xfrm>
            <a:off x="1920240" y="34747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ПОЛУЧЕНИЕ ДАННЫХ</a:t>
            </a:r>
            <a:endParaRPr lang="en-US" sz="2200" dirty="0"/>
          </a:p>
        </p:txBody>
      </p:sp>
      <p:sp>
        <p:nvSpPr>
          <p:cNvPr id="10" name="Текст ПОЛУЧЕНИЕ ДАННЫХ"/>
          <p:cNvSpPr txBox="1"/>
          <p:nvPr/>
        </p:nvSpPr>
        <p:spPr>
          <a:xfrm>
            <a:off x="1920240" y="39319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Запрос через API, ответ в формате JSON</a:t>
            </a:r>
            <a:endParaRPr lang="en-US" sz="2000" dirty="0"/>
          </a:p>
        </p:txBody>
      </p:sp>
      <p:sp>
        <p:nvSpPr>
          <p:cNvPr id="11" name="Иконка ХРАНЕНИЕ (круг)"/>
          <p:cNvSpPr/>
          <p:nvPr/>
        </p:nvSpPr>
        <p:spPr>
          <a:xfrm>
            <a:off x="548640" y="5166360"/>
            <a:ext cx="1097280" cy="109728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Иконка ХРАНЕНИЕ" descr="Иконка ХРАНЕНИЕ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" y="5429707"/>
            <a:ext cx="570586" cy="570586"/>
          </a:xfrm>
          <a:prstGeom prst="rect">
            <a:avLst/>
          </a:prstGeom>
        </p:spPr>
      </p:pic>
      <p:sp>
        <p:nvSpPr>
          <p:cNvPr id="13" name="ХРАНЕНИЕ"/>
          <p:cNvSpPr txBox="1"/>
          <p:nvPr/>
        </p:nvSpPr>
        <p:spPr>
          <a:xfrm>
            <a:off x="1920240" y="5029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ХРАНЕНИЕ</a:t>
            </a:r>
            <a:endParaRPr lang="en-US" sz="2200" dirty="0"/>
          </a:p>
        </p:txBody>
      </p:sp>
      <p:sp>
        <p:nvSpPr>
          <p:cNvPr id="14" name="Текст ХРАНЕНИЕ"/>
          <p:cNvSpPr txBox="1"/>
          <p:nvPr/>
        </p:nvSpPr>
        <p:spPr>
          <a:xfrm>
            <a:off x="1920240" y="5486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База ROOM: добавление, удаление и редактирование</a:t>
            </a:r>
            <a:endParaRPr lang="en-US" sz="2000" dirty="0"/>
          </a:p>
        </p:txBody>
      </p:sp>
      <p:pic>
        <p:nvPicPr>
          <p:cNvPr id="15" name="Скриншот search" descr="Скриншот приложения: searc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640080"/>
            <a:ext cx="271083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Используемые инструменты</a:t>
            </a:r>
            <a:endParaRPr lang="en-US" sz="4000" dirty="0"/>
          </a:p>
        </p:txBody>
      </p:sp>
      <p:sp>
        <p:nvSpPr>
          <p:cNvPr id="3" name="Android Studio (карточка)"/>
          <p:cNvSpPr/>
          <p:nvPr/>
        </p:nvSpPr>
        <p:spPr>
          <a:xfrm>
            <a:off x="548640" y="1554480"/>
            <a:ext cx="2651760" cy="2240280"/>
          </a:xfrm>
          <a:prstGeom prst="roundRect">
            <a:avLst>
              <a:gd name="adj" fmla="val 734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Иконка Android Studio (круг)"/>
          <p:cNvSpPr/>
          <p:nvPr/>
        </p:nvSpPr>
        <p:spPr>
          <a:xfrm>
            <a:off x="1371600" y="178308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Иконка Android Studio" descr="Иконка Android Stud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002" y="2024482"/>
            <a:ext cx="523037" cy="523037"/>
          </a:xfrm>
          <a:prstGeom prst="rect">
            <a:avLst/>
          </a:prstGeom>
        </p:spPr>
      </p:pic>
      <p:sp>
        <p:nvSpPr>
          <p:cNvPr id="6" name="Android Studio"/>
          <p:cNvSpPr txBox="1"/>
          <p:nvPr/>
        </p:nvSpPr>
        <p:spPr>
          <a:xfrm>
            <a:off x="640080" y="2926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Android Studio</a:t>
            </a:r>
            <a:endParaRPr lang="en-US" sz="2000" dirty="0"/>
          </a:p>
        </p:txBody>
      </p:sp>
      <p:sp>
        <p:nvSpPr>
          <p:cNvPr id="7" name="Kotlin (карточка)"/>
          <p:cNvSpPr/>
          <p:nvPr/>
        </p:nvSpPr>
        <p:spPr>
          <a:xfrm>
            <a:off x="3383280" y="1554480"/>
            <a:ext cx="2651760" cy="2240280"/>
          </a:xfrm>
          <a:prstGeom prst="roundRect">
            <a:avLst>
              <a:gd name="adj" fmla="val 734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Иконка Kotlin (круг)"/>
          <p:cNvSpPr/>
          <p:nvPr/>
        </p:nvSpPr>
        <p:spPr>
          <a:xfrm>
            <a:off x="4206240" y="178308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Иконка Kotlin" descr="Иконка Kotl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642" y="2024482"/>
            <a:ext cx="523037" cy="523037"/>
          </a:xfrm>
          <a:prstGeom prst="rect">
            <a:avLst/>
          </a:prstGeom>
        </p:spPr>
      </p:pic>
      <p:sp>
        <p:nvSpPr>
          <p:cNvPr id="10" name="Kotlin"/>
          <p:cNvSpPr txBox="1"/>
          <p:nvPr/>
        </p:nvSpPr>
        <p:spPr>
          <a:xfrm>
            <a:off x="3474720" y="2926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Kotlin</a:t>
            </a:r>
            <a:endParaRPr lang="en-US" sz="2000" dirty="0"/>
          </a:p>
        </p:txBody>
      </p:sp>
      <p:sp>
        <p:nvSpPr>
          <p:cNvPr id="11" name="OMDb API (карточка)"/>
          <p:cNvSpPr/>
          <p:nvPr/>
        </p:nvSpPr>
        <p:spPr>
          <a:xfrm>
            <a:off x="6217920" y="1554480"/>
            <a:ext cx="2651760" cy="2240280"/>
          </a:xfrm>
          <a:prstGeom prst="roundRect">
            <a:avLst>
              <a:gd name="adj" fmla="val 734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Иконка OMDb API (круг)"/>
          <p:cNvSpPr/>
          <p:nvPr/>
        </p:nvSpPr>
        <p:spPr>
          <a:xfrm>
            <a:off x="7040880" y="178308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3" name="Иконка OMDb API" descr="Иконка OMDb AP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2282" y="2024482"/>
            <a:ext cx="523037" cy="523037"/>
          </a:xfrm>
          <a:prstGeom prst="rect">
            <a:avLst/>
          </a:prstGeom>
        </p:spPr>
      </p:pic>
      <p:sp>
        <p:nvSpPr>
          <p:cNvPr id="14" name="OMDb API"/>
          <p:cNvSpPr txBox="1"/>
          <p:nvPr/>
        </p:nvSpPr>
        <p:spPr>
          <a:xfrm>
            <a:off x="6309360" y="2926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OMDb API</a:t>
            </a:r>
            <a:endParaRPr lang="en-US" sz="2000" dirty="0"/>
          </a:p>
        </p:txBody>
      </p:sp>
      <p:sp>
        <p:nvSpPr>
          <p:cNvPr id="15" name="Volley (карточка)"/>
          <p:cNvSpPr/>
          <p:nvPr/>
        </p:nvSpPr>
        <p:spPr>
          <a:xfrm>
            <a:off x="9052560" y="1554480"/>
            <a:ext cx="2651760" cy="2240280"/>
          </a:xfrm>
          <a:prstGeom prst="roundRect">
            <a:avLst>
              <a:gd name="adj" fmla="val 734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Иконка Volley (круг)"/>
          <p:cNvSpPr/>
          <p:nvPr/>
        </p:nvSpPr>
        <p:spPr>
          <a:xfrm>
            <a:off x="9875520" y="178308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7" name="Иконка Volley" descr="Иконка Volle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6922" y="2024482"/>
            <a:ext cx="523037" cy="523037"/>
          </a:xfrm>
          <a:prstGeom prst="rect">
            <a:avLst/>
          </a:prstGeom>
        </p:spPr>
      </p:pic>
      <p:sp>
        <p:nvSpPr>
          <p:cNvPr id="18" name="Volley"/>
          <p:cNvSpPr txBox="1"/>
          <p:nvPr/>
        </p:nvSpPr>
        <p:spPr>
          <a:xfrm>
            <a:off x="9144000" y="2926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Volley</a:t>
            </a:r>
            <a:endParaRPr lang="en-US" sz="2000" dirty="0"/>
          </a:p>
        </p:txBody>
      </p:sp>
      <p:sp>
        <p:nvSpPr>
          <p:cNvPr id="19" name="Gson (JSON) (карточка)"/>
          <p:cNvSpPr/>
          <p:nvPr/>
        </p:nvSpPr>
        <p:spPr>
          <a:xfrm>
            <a:off x="1874520" y="4046220"/>
            <a:ext cx="2651760" cy="2240280"/>
          </a:xfrm>
          <a:prstGeom prst="roundRect">
            <a:avLst>
              <a:gd name="adj" fmla="val 734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Иконка Gson (JSON) (круг)"/>
          <p:cNvSpPr/>
          <p:nvPr/>
        </p:nvSpPr>
        <p:spPr>
          <a:xfrm>
            <a:off x="2697480" y="427482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Иконка Gson (JSON)" descr="Иконка Gson (JSO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8882" y="4516222"/>
            <a:ext cx="523037" cy="523037"/>
          </a:xfrm>
          <a:prstGeom prst="rect">
            <a:avLst/>
          </a:prstGeom>
        </p:spPr>
      </p:pic>
      <p:sp>
        <p:nvSpPr>
          <p:cNvPr id="22" name="Gson (JSON)"/>
          <p:cNvSpPr txBox="1"/>
          <p:nvPr/>
        </p:nvSpPr>
        <p:spPr>
          <a:xfrm>
            <a:off x="1965960" y="54178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Gson (JSON)</a:t>
            </a:r>
            <a:endParaRPr lang="en-US" sz="2000" dirty="0"/>
          </a:p>
        </p:txBody>
      </p:sp>
      <p:sp>
        <p:nvSpPr>
          <p:cNvPr id="23" name="ROOM (карточка)"/>
          <p:cNvSpPr/>
          <p:nvPr/>
        </p:nvSpPr>
        <p:spPr>
          <a:xfrm>
            <a:off x="4709160" y="4046220"/>
            <a:ext cx="2651760" cy="2240280"/>
          </a:xfrm>
          <a:prstGeom prst="roundRect">
            <a:avLst>
              <a:gd name="adj" fmla="val 734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Иконка ROOM (круг)"/>
          <p:cNvSpPr/>
          <p:nvPr/>
        </p:nvSpPr>
        <p:spPr>
          <a:xfrm>
            <a:off x="5532120" y="427482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5" name="Иконка ROOM" descr="Иконка ROO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3522" y="4516222"/>
            <a:ext cx="523037" cy="523037"/>
          </a:xfrm>
          <a:prstGeom prst="rect">
            <a:avLst/>
          </a:prstGeom>
        </p:spPr>
      </p:pic>
      <p:sp>
        <p:nvSpPr>
          <p:cNvPr id="26" name="ROOM"/>
          <p:cNvSpPr txBox="1"/>
          <p:nvPr/>
        </p:nvSpPr>
        <p:spPr>
          <a:xfrm>
            <a:off x="4800600" y="54178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ROOM</a:t>
            </a:r>
            <a:endParaRPr lang="en-US" sz="2000" dirty="0"/>
          </a:p>
        </p:txBody>
      </p:sp>
      <p:sp>
        <p:nvSpPr>
          <p:cNvPr id="27" name="SharedPreferences (карточка)"/>
          <p:cNvSpPr/>
          <p:nvPr/>
        </p:nvSpPr>
        <p:spPr>
          <a:xfrm>
            <a:off x="7543800" y="4046220"/>
            <a:ext cx="2651760" cy="2240280"/>
          </a:xfrm>
          <a:prstGeom prst="roundRect">
            <a:avLst>
              <a:gd name="adj" fmla="val 734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Иконка SharedPreferences (круг)"/>
          <p:cNvSpPr/>
          <p:nvPr/>
        </p:nvSpPr>
        <p:spPr>
          <a:xfrm>
            <a:off x="8366760" y="427482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9" name="Иконка SharedPreferences" descr="Иконка SharedPreferenc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8162" y="4516222"/>
            <a:ext cx="523037" cy="523037"/>
          </a:xfrm>
          <a:prstGeom prst="rect">
            <a:avLst/>
          </a:prstGeom>
        </p:spPr>
      </p:pic>
      <p:sp>
        <p:nvSpPr>
          <p:cNvPr id="30" name="SharedPreferences"/>
          <p:cNvSpPr txBox="1"/>
          <p:nvPr/>
        </p:nvSpPr>
        <p:spPr>
          <a:xfrm>
            <a:off x="7635240" y="54178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SharedPreferences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окно программы</a:t>
            </a:r>
            <a:endParaRPr lang="en-US" sz="4000" dirty="0"/>
          </a:p>
        </p:txBody>
      </p:sp>
      <p:sp>
        <p:nvSpPr>
          <p:cNvPr id="3" name="Описание"/>
          <p:cNvSpPr txBox="1"/>
          <p:nvPr/>
        </p:nvSpPr>
        <p:spPr>
          <a:xfrm>
            <a:off x="548640" y="1385454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Вход в приложение с авторизацией пользователя.</a:t>
            </a:r>
            <a:endParaRPr lang="en-US" sz="2400" dirty="0"/>
          </a:p>
        </p:txBody>
      </p:sp>
      <p:sp>
        <p:nvSpPr>
          <p:cNvPr id="4" name="Метка списка"/>
          <p:cNvSpPr txBox="1"/>
          <p:nvPr/>
        </p:nvSpPr>
        <p:spPr>
          <a:xfrm>
            <a:off x="548640" y="2711334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включает в себя:</a:t>
            </a:r>
            <a:endParaRPr lang="en-US" sz="1800" dirty="0"/>
          </a:p>
        </p:txBody>
      </p:sp>
      <p:sp>
        <p:nvSpPr>
          <p:cNvPr id="5" name="Список"/>
          <p:cNvSpPr txBox="1"/>
          <p:nvPr/>
        </p:nvSpPr>
        <p:spPr>
          <a:xfrm>
            <a:off x="548640" y="3305694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поле «Логин»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поле «Пароль»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кнопка «Войти»</a:t>
            </a:r>
            <a:endParaRPr lang="en-US" sz="2200" dirty="0"/>
          </a:p>
        </p:txBody>
      </p:sp>
      <p:sp>
        <p:nvSpPr>
          <p:cNvPr id="6" name="Вывод (карточка)"/>
          <p:cNvSpPr/>
          <p:nvPr/>
        </p:nvSpPr>
        <p:spPr>
          <a:xfrm>
            <a:off x="548640" y="5317374"/>
            <a:ext cx="6949440" cy="777240"/>
          </a:xfrm>
          <a:prstGeom prst="roundRect">
            <a:avLst>
              <a:gd name="adj" fmla="val 21176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Вывод"/>
          <p:cNvSpPr txBox="1"/>
          <p:nvPr/>
        </p:nvSpPr>
        <p:spPr>
          <a:xfrm>
            <a:off x="777240" y="531737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Ввод проверяется на пустоту</a:t>
            </a:r>
            <a:endParaRPr lang="en-US" sz="2000" dirty="0"/>
          </a:p>
        </p:txBody>
      </p:sp>
      <p:pic>
        <p:nvPicPr>
          <p:cNvPr id="8" name="Скриншот login" descr="Скриншот приложения: lo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40080"/>
            <a:ext cx="271083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поиска</a:t>
            </a:r>
            <a:endParaRPr lang="en-US" sz="4000" dirty="0"/>
          </a:p>
        </p:txBody>
      </p:sp>
      <p:sp>
        <p:nvSpPr>
          <p:cNvPr id="3" name="Описание"/>
          <p:cNvSpPr txBox="1"/>
          <p:nvPr/>
        </p:nvSpPr>
        <p:spPr>
          <a:xfrm>
            <a:off x="548640" y="1413164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Поиск фильма по названию через OMDb API.</a:t>
            </a:r>
            <a:endParaRPr lang="en-US" sz="2400" dirty="0"/>
          </a:p>
        </p:txBody>
      </p:sp>
      <p:sp>
        <p:nvSpPr>
          <p:cNvPr id="4" name="Метка списка"/>
          <p:cNvSpPr txBox="1"/>
          <p:nvPr/>
        </p:nvSpPr>
        <p:spPr>
          <a:xfrm>
            <a:off x="548640" y="2739044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включает в себя:</a:t>
            </a:r>
            <a:endParaRPr lang="en-US" sz="1800" dirty="0"/>
          </a:p>
        </p:txBody>
      </p:sp>
      <p:sp>
        <p:nvSpPr>
          <p:cNvPr id="5" name="Список"/>
          <p:cNvSpPr txBox="1"/>
          <p:nvPr/>
        </p:nvSpPr>
        <p:spPr>
          <a:xfrm>
            <a:off x="548640" y="3333404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постер, рейтинг, год и жанр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режиссёр и описание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кнопки «В коллекцию» и «Мои фильмы»</a:t>
            </a:r>
            <a:endParaRPr lang="en-US" sz="2200" dirty="0"/>
          </a:p>
        </p:txBody>
      </p:sp>
      <p:sp>
        <p:nvSpPr>
          <p:cNvPr id="6" name="Вывод (карточка)"/>
          <p:cNvSpPr/>
          <p:nvPr/>
        </p:nvSpPr>
        <p:spPr>
          <a:xfrm>
            <a:off x="548640" y="5345084"/>
            <a:ext cx="6949440" cy="777240"/>
          </a:xfrm>
          <a:prstGeom prst="roundRect">
            <a:avLst>
              <a:gd name="adj" fmla="val 21176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Вывод"/>
          <p:cNvSpPr txBox="1"/>
          <p:nvPr/>
        </p:nvSpPr>
        <p:spPr>
          <a:xfrm>
            <a:off x="777240" y="534508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Ответ API приходит в формате JSON</a:t>
            </a:r>
            <a:endParaRPr lang="en-US" sz="2000" dirty="0"/>
          </a:p>
        </p:txBody>
      </p:sp>
      <p:pic>
        <p:nvPicPr>
          <p:cNvPr id="8" name="Скриншот search" descr="Скриншот приложения: 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40080"/>
            <a:ext cx="271083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«Моя коллекция»</a:t>
            </a:r>
            <a:endParaRPr lang="en-US" sz="4000" dirty="0"/>
          </a:p>
        </p:txBody>
      </p:sp>
      <p:sp>
        <p:nvSpPr>
          <p:cNvPr id="3" name="Описание"/>
          <p:cNvSpPr txBox="1"/>
          <p:nvPr/>
        </p:nvSpPr>
        <p:spPr>
          <a:xfrm>
            <a:off x="548640" y="1691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Сохранённые фильмы хранятся в базе ROOM.</a:t>
            </a:r>
            <a:endParaRPr lang="en-US" sz="2400" dirty="0"/>
          </a:p>
        </p:txBody>
      </p:sp>
      <p:sp>
        <p:nvSpPr>
          <p:cNvPr id="4" name="Метка списка"/>
          <p:cNvSpPr txBox="1"/>
          <p:nvPr/>
        </p:nvSpPr>
        <p:spPr>
          <a:xfrm>
            <a:off x="548640" y="301752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включает в себя:</a:t>
            </a:r>
            <a:endParaRPr lang="en-US" sz="1800" dirty="0"/>
          </a:p>
        </p:txBody>
      </p:sp>
      <p:sp>
        <p:nvSpPr>
          <p:cNvPr id="5" name="Список"/>
          <p:cNvSpPr txBox="1"/>
          <p:nvPr/>
        </p:nvSpPr>
        <p:spPr>
          <a:xfrm>
            <a:off x="548640" y="361188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постер, название, год, жанр и рейтинг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счётчик фильмов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кнопки «Изменить» и «Удалить»</a:t>
            </a:r>
            <a:endParaRPr lang="en-US" sz="2200" dirty="0"/>
          </a:p>
        </p:txBody>
      </p:sp>
      <p:sp>
        <p:nvSpPr>
          <p:cNvPr id="6" name="Вывод (карточка)"/>
          <p:cNvSpPr/>
          <p:nvPr/>
        </p:nvSpPr>
        <p:spPr>
          <a:xfrm>
            <a:off x="548640" y="5623560"/>
            <a:ext cx="6949440" cy="777240"/>
          </a:xfrm>
          <a:prstGeom prst="roundRect">
            <a:avLst>
              <a:gd name="adj" fmla="val 21176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Вывод"/>
          <p:cNvSpPr txBox="1"/>
          <p:nvPr/>
        </p:nvSpPr>
        <p:spPr>
          <a:xfrm>
            <a:off x="777240" y="56235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Пустая коллекция показывает подсказку</a:t>
            </a:r>
            <a:endParaRPr lang="en-US" sz="2000" dirty="0"/>
          </a:p>
        </p:txBody>
      </p:sp>
      <p:pic>
        <p:nvPicPr>
          <p:cNvPr id="8" name="Скриншот empty" descr="Скриншот приложения: emp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822960"/>
            <a:ext cx="2310872" cy="4754880"/>
          </a:xfrm>
          <a:prstGeom prst="rect">
            <a:avLst/>
          </a:prstGeom>
        </p:spPr>
      </p:pic>
      <p:pic>
        <p:nvPicPr>
          <p:cNvPr id="9" name="Скриншот list" descr="Скриншот приложения: l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822960"/>
            <a:ext cx="23108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редактирования</a:t>
            </a:r>
            <a:endParaRPr lang="en-US" sz="4000" dirty="0"/>
          </a:p>
        </p:txBody>
      </p:sp>
      <p:sp>
        <p:nvSpPr>
          <p:cNvPr id="3" name="Описание"/>
          <p:cNvSpPr txBox="1"/>
          <p:nvPr/>
        </p:nvSpPr>
        <p:spPr>
          <a:xfrm>
            <a:off x="548640" y="15087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Изменение данных фильма в базе ROOM.</a:t>
            </a:r>
            <a:endParaRPr lang="en-US" sz="2400" dirty="0"/>
          </a:p>
        </p:txBody>
      </p:sp>
      <p:sp>
        <p:nvSpPr>
          <p:cNvPr id="4" name="Метка списка"/>
          <p:cNvSpPr txBox="1"/>
          <p:nvPr/>
        </p:nvSpPr>
        <p:spPr>
          <a:xfrm>
            <a:off x="548640" y="2834640"/>
            <a:ext cx="31089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включает в себя:</a:t>
            </a:r>
            <a:endParaRPr lang="en-US" sz="1800" dirty="0"/>
          </a:p>
        </p:txBody>
      </p:sp>
      <p:sp>
        <p:nvSpPr>
          <p:cNvPr id="5" name="Список"/>
          <p:cNvSpPr txBox="1"/>
          <p:nvPr/>
        </p:nvSpPr>
        <p:spPr>
          <a:xfrm>
            <a:off x="548640" y="34290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название и год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жанр и рейтинг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кнопки «Отмена» и «Сохранить»</a:t>
            </a:r>
            <a:endParaRPr lang="en-US" sz="2200" dirty="0"/>
          </a:p>
        </p:txBody>
      </p:sp>
      <p:sp>
        <p:nvSpPr>
          <p:cNvPr id="6" name="Вывод (карточка)"/>
          <p:cNvSpPr/>
          <p:nvPr/>
        </p:nvSpPr>
        <p:spPr>
          <a:xfrm>
            <a:off x="548640" y="5440680"/>
            <a:ext cx="6949440" cy="777240"/>
          </a:xfrm>
          <a:prstGeom prst="roundRect">
            <a:avLst>
              <a:gd name="adj" fmla="val 21176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Вывод"/>
          <p:cNvSpPr txBox="1"/>
          <p:nvPr/>
        </p:nvSpPr>
        <p:spPr>
          <a:xfrm>
            <a:off x="777240" y="54406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Фильм можно изменить или удалить</a:t>
            </a:r>
            <a:endParaRPr lang="en-US" sz="2000" dirty="0"/>
          </a:p>
        </p:txBody>
      </p:sp>
      <p:pic>
        <p:nvPicPr>
          <p:cNvPr id="8" name="Скриншот edit" descr="Скриншот приложения: ed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640080"/>
            <a:ext cx="271083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Перспективы разработки</a:t>
            </a:r>
            <a:endParaRPr lang="en-US" sz="4000" dirty="0"/>
          </a:p>
        </p:txBody>
      </p:sp>
      <p:sp>
        <p:nvSpPr>
          <p:cNvPr id="3" name="Добавление большего функционала (карточка)"/>
          <p:cNvSpPr/>
          <p:nvPr/>
        </p:nvSpPr>
        <p:spPr>
          <a:xfrm>
            <a:off x="548640" y="1645920"/>
            <a:ext cx="7498080" cy="1280160"/>
          </a:xfrm>
          <a:prstGeom prst="roundRect">
            <a:avLst>
              <a:gd name="adj" fmla="val 1285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Иконка Добавление большего функционала (круг)"/>
          <p:cNvSpPr/>
          <p:nvPr/>
        </p:nvSpPr>
        <p:spPr>
          <a:xfrm>
            <a:off x="777240" y="178308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Иконка Добавление большего функционала" descr="Иконка Добавление большего функционал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42" y="2024482"/>
            <a:ext cx="523037" cy="523037"/>
          </a:xfrm>
          <a:prstGeom prst="rect">
            <a:avLst/>
          </a:prstGeom>
        </p:spPr>
      </p:pic>
      <p:sp>
        <p:nvSpPr>
          <p:cNvPr id="6" name="Добавление большего функционала"/>
          <p:cNvSpPr txBox="1"/>
          <p:nvPr/>
        </p:nvSpPr>
        <p:spPr>
          <a:xfrm>
            <a:off x="2103120" y="164592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Добавление большего функционала</a:t>
            </a:r>
            <a:endParaRPr lang="en-US" sz="2400" dirty="0"/>
          </a:p>
        </p:txBody>
      </p:sp>
      <p:sp>
        <p:nvSpPr>
          <p:cNvPr id="7" name="Расширение настроек интерфейса (карточка)"/>
          <p:cNvSpPr/>
          <p:nvPr/>
        </p:nvSpPr>
        <p:spPr>
          <a:xfrm>
            <a:off x="548640" y="3154680"/>
            <a:ext cx="7498080" cy="1280160"/>
          </a:xfrm>
          <a:prstGeom prst="roundRect">
            <a:avLst>
              <a:gd name="adj" fmla="val 1285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Иконка Расширение настроек интерфейса (круг)"/>
          <p:cNvSpPr/>
          <p:nvPr/>
        </p:nvSpPr>
        <p:spPr>
          <a:xfrm>
            <a:off x="777240" y="329184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Иконка Расширение настроек интерфейса" descr="Иконка Расширение настроек интерфейс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2" y="3533242"/>
            <a:ext cx="523037" cy="523037"/>
          </a:xfrm>
          <a:prstGeom prst="rect">
            <a:avLst/>
          </a:prstGeom>
        </p:spPr>
      </p:pic>
      <p:sp>
        <p:nvSpPr>
          <p:cNvPr id="10" name="Расширение настроек интерфейса"/>
          <p:cNvSpPr txBox="1"/>
          <p:nvPr/>
        </p:nvSpPr>
        <p:spPr>
          <a:xfrm>
            <a:off x="2103120" y="31546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Расширение настроек интерфейса</a:t>
            </a:r>
            <a:endParaRPr lang="en-US" sz="2400" dirty="0"/>
          </a:p>
        </p:txBody>
      </p:sp>
      <p:sp>
        <p:nvSpPr>
          <p:cNvPr id="11" name="Оптимизация кода (карточка)"/>
          <p:cNvSpPr/>
          <p:nvPr/>
        </p:nvSpPr>
        <p:spPr>
          <a:xfrm>
            <a:off x="548640" y="4663440"/>
            <a:ext cx="7498080" cy="1280160"/>
          </a:xfrm>
          <a:prstGeom prst="roundRect">
            <a:avLst>
              <a:gd name="adj" fmla="val 12857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Иконка Оптимизация кода (круг)"/>
          <p:cNvSpPr/>
          <p:nvPr/>
        </p:nvSpPr>
        <p:spPr>
          <a:xfrm>
            <a:off x="777240" y="4800600"/>
            <a:ext cx="1005840" cy="100584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3" name="Иконка Оптимизация кода" descr="Иконка Оптимизация кода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642" y="5042002"/>
            <a:ext cx="523037" cy="523037"/>
          </a:xfrm>
          <a:prstGeom prst="rect">
            <a:avLst/>
          </a:prstGeom>
        </p:spPr>
      </p:pic>
      <p:sp>
        <p:nvSpPr>
          <p:cNvPr id="14" name="Оптимизация кода"/>
          <p:cNvSpPr txBox="1"/>
          <p:nvPr/>
        </p:nvSpPr>
        <p:spPr>
          <a:xfrm>
            <a:off x="2103120" y="466344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Оптимизация кода</a:t>
            </a:r>
            <a:endParaRPr lang="en-US" sz="2400" dirty="0"/>
          </a:p>
        </p:txBody>
      </p:sp>
      <p:pic>
        <p:nvPicPr>
          <p:cNvPr id="17" name="Скриншот search" descr="Скриншот приложения: search">
            <a:extLst>
              <a:ext uri="{FF2B5EF4-FFF2-40B4-BE49-F238E27FC236}">
                <a16:creationId xmlns:a16="http://schemas.microsoft.com/office/drawing/2014/main" id="{9FB3F107-7D7E-9555-2FE8-88DDC6DFC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2050" y="640080"/>
            <a:ext cx="2710830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vie DB">
  <a:themeElements>
    <a:clrScheme name="Movie DB">
      <a:dk1>
        <a:srgbClr val="121212"/>
      </a:dk1>
      <a:lt1>
        <a:srgbClr val="FFFFFF"/>
      </a:lt1>
      <a:dk2>
        <a:srgbClr val="2A2A32"/>
      </a:dk2>
      <a:lt2>
        <a:srgbClr val="B8B8C0"/>
      </a:lt2>
      <a:accent1>
        <a:srgbClr val="00E5FF"/>
      </a:accent1>
      <a:accent2>
        <a:srgbClr val="7C4DFF"/>
      </a:accent2>
      <a:accent3>
        <a:srgbClr val="424248"/>
      </a:accent3>
      <a:accent4>
        <a:srgbClr val="00B8CC"/>
      </a:accent4>
      <a:accent5>
        <a:srgbClr val="A98BFF"/>
      </a:accent5>
      <a:accent6>
        <a:srgbClr val="E0F7FA"/>
      </a:accent6>
      <a:hlink>
        <a:srgbClr val="00E5FF"/>
      </a:hlink>
      <a:folHlink>
        <a:srgbClr val="7C4DFF"/>
      </a:folHlink>
    </a:clrScheme>
    <a:fontScheme name="Movie D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320</Words>
  <Application>Microsoft Office PowerPoint</Application>
  <PresentationFormat>Widescreen</PresentationFormat>
  <Paragraphs>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Movie DB</vt:lpstr>
      <vt:lpstr>Разработка мобильного приложения «База фильмов»</vt:lpstr>
      <vt:lpstr>О разработке</vt:lpstr>
      <vt:lpstr>Цели и задачи проекта</vt:lpstr>
      <vt:lpstr>Функциональные характеристики</vt:lpstr>
      <vt:lpstr>Используемые инструменты</vt:lpstr>
      <vt:lpstr>Главное окно программы</vt:lpstr>
      <vt:lpstr>Форма поиска</vt:lpstr>
      <vt:lpstr>Форма «Моя коллекция»</vt:lpstr>
      <vt:lpstr>Форма редактирования</vt:lpstr>
      <vt:lpstr>Перспективы разработки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База фильмов</dc:title>
  <dc:subject>PptxGenJS Presentation</dc:subject>
  <dc:creator>PptxGenJS</dc:creator>
  <cp:lastModifiedBy>Марина Мелехова</cp:lastModifiedBy>
  <cp:revision>3</cp:revision>
  <dcterms:created xsi:type="dcterms:W3CDTF">2026-10-28T05:20:49Z</dcterms:created>
  <dcterms:modified xsi:type="dcterms:W3CDTF">2026-10-28T05:27:05Z</dcterms:modified>
</cp:coreProperties>
</file>